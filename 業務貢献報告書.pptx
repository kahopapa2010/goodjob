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概要" id="{5994bdeb-faa3-f1ed-6fe9-92ae3e24efc3}">
          <p14:sldIdLst>
            <p14:sldId id="256"/>
            <p14:sldId id="257"/>
          </p14:sldIdLst>
        </p14:section>
        <p14:section name="コスト削減・収益改善" id="{a9a20a04-2ccf-f111-8fee-28012131875c}">
          <p14:sldIdLst>
            <p14:sldId id="258"/>
            <p14:sldId id="259"/>
            <p14:sldId id="260"/>
          </p14:sldIdLst>
        </p14:section>
        <p14:section name="DX推進" id="{b973e4b6-c7c8-4d83-bdb3-c9932044d4b1}">
          <p14:sldIdLst>
            <p14:sldId id="261"/>
            <p14:sldId id="262"/>
          </p14:sldIdLst>
        </p14:section>
        <p14:section name="まとめ" id="{b7af4daa-e0e8-fd4d-64b9-93c00c73de47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4D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4D3A"/>
                </a:solidFill>
                <a:latin typeface="+mn-lt"/>
              </a:rPr>
              <a:t>取引先別の年間効果（万円）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年間効果（万円）</c:v>
                </c:pt>
              </c:strCache>
            </c:strRef>
          </c:tx>
          <c:spPr>
            <a:solidFill>
              <a:srgbClr val="2E8B6E"/>
            </a:solidFill>
            <a:effectLst/>
          </c:spPr>
          <c:invertIfNegative val="0"/>
          <c:dLbls>
            <c:numFmt formatCode="#,##0.#&quot;万円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A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サニックス</c:v>
                  </c:pt>
                  <c:pt idx="1">
                    <c:v>フューチャー</c:v>
                  </c:pt>
                  <c:pt idx="2">
                    <c:v>太平洋セメント</c:v>
                  </c:pt>
                  <c:pt idx="3">
                    <c:v>新日本リプラス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86.4</c:v>
                </c:pt>
                <c:pt idx="2">
                  <c:v>588</c:v>
                </c:pt>
                <c:pt idx="3">
                  <c:v>696</c:v>
                </c:pt>
              </c:numCache>
            </c:numRef>
          </c:val>
        </c:ser>
        <c:dLbls>
          <c:numFmt formatCode="#,##0.#&quot;万円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E2A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A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4D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4D3A"/>
                </a:solidFill>
                <a:latin typeface="+mn-lt"/>
              </a:rPr>
              <a:t>太平洋セメントの受け入れ量（月）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受け入れ量（t/月）</c:v>
                </c:pt>
              </c:strCache>
            </c:strRef>
          </c:tx>
          <c:spPr>
            <a:solidFill>
              <a:srgbClr val="C9DDD3"/>
            </a:solidFill>
            <a:effectLst/>
          </c:spPr>
          <c:invertIfNegative val="0"/>
          <c:dLbls>
            <c:numFmt formatCode="0&quot;t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E2A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DD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8B6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以前</c:v>
                  </c:pt>
                  <c:pt idx="1">
                    <c:v>現在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100</c:v>
                </c:pt>
              </c:numCache>
            </c:numRef>
          </c:val>
        </c:ser>
        <c:dLbls>
          <c:numFmt formatCode="0&quot;t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E2A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E2A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この1年間に私が取り組んだ、取引条件の改善によるコスト削減・収益改善と、DX推進の成果についてご報告します。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当初は電話で何度か打診し、無償なら引き取るという回答でしたが、直接訪問してお願いしたことで1円/kgでの買い取りとなり、売買契約を結びました。処分費28円/kgが不要になり、1kgあたり29円の改善です。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業務貢献報告｜2025年10月〜2026年9月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業務貢献報告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コスト削減・収益改善とDX推進の成果（2025年10月〜2026年9月）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報告日：2026年10月2日　　所属：　　　　　　氏名：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この1年間の成果（要旨）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取引先との交渉と新規開拓で、年間約1,394万円のコスト削減・収益改善につなげました。</a:t>
            </a:r>
            <a:endParaRPr lang="en-US" sz="1600" dirty="0"/>
          </a:p>
        </p:txBody>
      </p:sp>
      <p:sp>
        <p:nvSpPr>
          <p:cNvPr id="4" name="total"/>
          <p:cNvSpPr/>
          <p:nvPr/>
        </p:nvSpPr>
        <p:spPr>
          <a:xfrm>
            <a:off x="548640" y="1783080"/>
            <a:ext cx="3931920" cy="260604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年間の効果額（年換算）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約1,394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万円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月あたり約116万円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取引先4社の条件改善の合計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754880" y="1737360"/>
          <a:ext cx="685800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pillar0"/>
          <p:cNvSpPr/>
          <p:nvPr/>
        </p:nvSpPr>
        <p:spPr>
          <a:xfrm>
            <a:off x="548640" y="4617720"/>
            <a:ext cx="544068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822960" y="48463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4846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4846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コスト削減・収益改善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53949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新日本リプラスの新規開拓、太平洋セメントへの振り替え拡大、販売単価の値上げ、処分費の値下げ</a:t>
            </a:r>
            <a:endParaRPr lang="en-US" sz="1400" dirty="0"/>
          </a:p>
        </p:txBody>
      </p:sp>
      <p:sp>
        <p:nvSpPr>
          <p:cNvPr id="14" name="pillar1"/>
          <p:cNvSpPr/>
          <p:nvPr/>
        </p:nvSpPr>
        <p:spPr>
          <a:xfrm>
            <a:off x="6172200" y="4617720"/>
            <a:ext cx="544068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5" name="Shape 12"/>
          <p:cNvSpPr/>
          <p:nvPr/>
        </p:nvSpPr>
        <p:spPr>
          <a:xfrm>
            <a:off x="6446520" y="48463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46520" y="4846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132320" y="4846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DX推進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7132320" y="53949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請求書照合の自動化、操業日報ビューワー・配車ビューワーの作成、生成AI（Claude）の業務活用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① コスト削減・収益改善の一覧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4社との取引条件を見直し、処分費の削減と販売収入の増加の両面で効果を出しました。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926080"/>
                <a:gridCol w="1188720"/>
                <a:gridCol w="2926080"/>
                <a:gridCol w="82296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取引先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取り組み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開始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条件の変化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月の量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年間効果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新日本リプラス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C級パレットの新規開拓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（処分から買取へ）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2026年6月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処分費28円/kg → 買取1円/kg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（29円/kg改善）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約20t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6E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696万円</a:t>
                      </a:r>
                      <a:endParaRPr lang="en-US" sz="1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太平洋セメント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受け入れ量の拡大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（運送会社を増やし運搬量を確保）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月30t → 100t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処分費11円/kg（他社18円/kg）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+70t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6E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588万円</a:t>
                      </a:r>
                      <a:endParaRPr lang="en-US" sz="1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フューチャー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減容品の販売単価の値上げ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2026年4月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7円/kg → 10円/kg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24t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6E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86.4万円</a:t>
                      </a:r>
                      <a:endParaRPr lang="en-US" sz="1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サニックス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処分費の値下げ交渉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2024年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24円/kg → 23円/kg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20t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6E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24万円</a:t>
                      </a:r>
                      <a:endParaRPr lang="en-US" sz="1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 gridSpan="5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合計（年換算）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約1,394万円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年間効果＝月の量×単価の差×12か月。太平洋セメントは、増えた70t/月をサニークリエーションプランニング（18円/kg）に出した場合との差（7円/kg）で試算。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成果1：C級パレットを「費用」から「収入」へ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新日本リプラスを新たに開拓し、処分費を払って出していたC級パレットを買い取ってもらう契約を結びました。</a:t>
            </a:r>
            <a:endParaRPr lang="en-US" sz="1600" dirty="0"/>
          </a:p>
        </p:txBody>
      </p:sp>
      <p:sp>
        <p:nvSpPr>
          <p:cNvPr id="4" name="before"/>
          <p:cNvSpPr/>
          <p:nvPr/>
        </p:nvSpPr>
        <p:spPr>
          <a:xfrm>
            <a:off x="548640" y="1828800"/>
            <a:ext cx="24688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これまで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−28</a:t>
            </a:r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円/kg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処分費を支払う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0" y="2514600"/>
            <a:ext cx="365760" cy="54864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9" name="after"/>
          <p:cNvSpPr/>
          <p:nvPr/>
        </p:nvSpPr>
        <p:spPr>
          <a:xfrm>
            <a:off x="3749040" y="1828800"/>
            <a:ext cx="246888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2026年6月から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23774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+1</a:t>
            </a:r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円/kg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買い取ってもらう</a:t>
            </a:r>
            <a:endParaRPr lang="en-US" sz="1400" dirty="0"/>
          </a:p>
        </p:txBody>
      </p:sp>
      <p:sp>
        <p:nvSpPr>
          <p:cNvPr id="13" name="im0"/>
          <p:cNvSpPr/>
          <p:nvPr/>
        </p:nvSpPr>
        <p:spPr>
          <a:xfrm>
            <a:off x="548640" y="4023360"/>
            <a:ext cx="2743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976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58万円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月あたりの効果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（月約20t×29円/kg）</a:t>
            </a:r>
            <a:endParaRPr lang="en-US" sz="1300" dirty="0"/>
          </a:p>
        </p:txBody>
      </p:sp>
      <p:sp>
        <p:nvSpPr>
          <p:cNvPr id="16" name="im1"/>
          <p:cNvSpPr/>
          <p:nvPr/>
        </p:nvSpPr>
        <p:spPr>
          <a:xfrm>
            <a:off x="3474720" y="4023360"/>
            <a:ext cx="2743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74720" y="42976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696万円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5120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年間の効果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（年換算）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交渉の経緯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926580" y="2880360"/>
            <a:ext cx="0" cy="45720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75120" y="23774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7512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06640" y="2331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電話で打診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2697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担当者に何度か電話で相談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926580" y="3840480"/>
            <a:ext cx="0" cy="45720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33375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7512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3291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当初の回答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406640" y="3657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「無償なら引き取る」という条件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926580" y="4800600"/>
            <a:ext cx="0" cy="45720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75120" y="42976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67512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406640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直接訪問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406640" y="4617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自ら足を運び、買い取りをお願い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675120" y="52578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67512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406640" y="5212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売買契約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406640" y="5577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1円/kgでの買い取りで合意・契約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成果2：安い処分先への振り替えを拡大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運送会社を増やして運搬量を確保し、処分単価の安い太平洋セメントへの搬出を月30tから100tに増やしました。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737360"/>
          <a:ext cx="40233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846320" y="178308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処分単価の比較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サニークリエーションプランニング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046720" y="2404872"/>
            <a:ext cx="2468880" cy="365760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607040" y="23317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18円/kg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3017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太平洋セメント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3090672"/>
            <a:ext cx="1508760" cy="3657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46920" y="30175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11円/kg</a:t>
            </a:r>
            <a:endParaRPr lang="en-US" sz="1400" dirty="0"/>
          </a:p>
        </p:txBody>
      </p:sp>
      <p:sp>
        <p:nvSpPr>
          <p:cNvPr id="12" name="tc1"/>
          <p:cNvSpPr/>
          <p:nvPr/>
        </p:nvSpPr>
        <p:spPr>
          <a:xfrm>
            <a:off x="4846320" y="3840480"/>
            <a:ext cx="324612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74920" y="40233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円/kg 安い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498348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増えた70t/月を他社に出した場合と比べて、月49万円・年588万円の削減</a:t>
            </a:r>
            <a:endParaRPr lang="en-US" sz="1300" dirty="0"/>
          </a:p>
        </p:txBody>
      </p:sp>
      <p:sp>
        <p:nvSpPr>
          <p:cNvPr id="15" name="tc2"/>
          <p:cNvSpPr/>
          <p:nvPr/>
        </p:nvSpPr>
        <p:spPr>
          <a:xfrm>
            <a:off x="8366760" y="3840480"/>
            <a:ext cx="32461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95360" y="4023360"/>
            <a:ext cx="28346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ポイント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受け入れ枠があっても、運ぶ手段がなければ量は増やせない。運送会社を増やして運搬の能力を確保したことで、搬出量を3倍以上にできた。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② DX推進：4つの取り組み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手作業や「ファイルを開かないと分からない」状態を減らすため、ツールを自ら作り、現場で使える形にしました。</a:t>
            </a:r>
            <a:endParaRPr lang="en-US" sz="1600" dirty="0"/>
          </a:p>
        </p:txBody>
      </p:sp>
      <p:sp>
        <p:nvSpPr>
          <p:cNvPr id="4" name="dx0"/>
          <p:cNvSpPr/>
          <p:nvPr/>
        </p:nvSpPr>
        <p:spPr>
          <a:xfrm>
            <a:off x="548640" y="182880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031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請求書照合の自動化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69748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運送会社の請求書（PDF）を読み取り、自社の出荷データ・契約運賃表と自動で突き合わせ。食い違いだけを「要確認」として一覧化</a:t>
            </a:r>
            <a:endParaRPr lang="en-US" sz="1400" dirty="0"/>
          </a:p>
        </p:txBody>
      </p:sp>
      <p:sp>
        <p:nvSpPr>
          <p:cNvPr id="9" name="dx1"/>
          <p:cNvSpPr/>
          <p:nvPr/>
        </p:nvSpPr>
        <p:spPr>
          <a:xfrm>
            <a:off x="6172200" y="182880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21031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21031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操業日報ビューワー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269748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操業日報のデータを画面で見やすく確認できるようにし、日報ファイルを探して開く手間を削減</a:t>
            </a:r>
            <a:endParaRPr lang="en-US" sz="1400" dirty="0"/>
          </a:p>
        </p:txBody>
      </p:sp>
      <p:sp>
        <p:nvSpPr>
          <p:cNvPr id="14" name="dx2"/>
          <p:cNvSpPr/>
          <p:nvPr/>
        </p:nvSpPr>
        <p:spPr>
          <a:xfrm>
            <a:off x="548640" y="402336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2976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2976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配車ビューワー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89204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配車の状況を一覧で確認できるようにし、関係者の間で情報を共有しやすくした</a:t>
            </a:r>
            <a:endParaRPr lang="en-US" sz="1400" dirty="0"/>
          </a:p>
        </p:txBody>
      </p:sp>
      <p:sp>
        <p:nvSpPr>
          <p:cNvPr id="19" name="dx3"/>
          <p:cNvSpPr/>
          <p:nvPr/>
        </p:nvSpPr>
        <p:spPr>
          <a:xfrm>
            <a:off x="6172200" y="402336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42976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4652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42976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生成AI（Claude）の活用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89204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ツール開発・資料作成・毎月の定型作業の手順化にAIを活用し、少人数・短期間での開発を実現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請求書照合の自動化：しくみ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毎月3つのファイルを入れてボタンを押すだけで、請求内容と契約単価・出荷実績の食い違いが分かります。</a:t>
            </a:r>
            <a:endParaRPr lang="en-US" sz="1600" dirty="0"/>
          </a:p>
        </p:txBody>
      </p:sp>
      <p:sp>
        <p:nvSpPr>
          <p:cNvPr id="4" name="flow0"/>
          <p:cNvSpPr/>
          <p:nvPr/>
        </p:nvSpPr>
        <p:spPr>
          <a:xfrm>
            <a:off x="548640" y="18288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011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3ファイルを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まとめて投入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88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請求書PDF・出荷データ・契約運賃表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99816" y="2468880"/>
            <a:ext cx="228600" cy="45720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8" name="flow1"/>
          <p:cNvSpPr/>
          <p:nvPr/>
        </p:nvSpPr>
        <p:spPr>
          <a:xfrm>
            <a:off x="3413455" y="18288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96335" y="2011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自動で読み取り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96335" y="2788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画像のPDFも文字認識（OCR）で読み取る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64631" y="2468880"/>
            <a:ext cx="228600" cy="45720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12" name="flow2"/>
          <p:cNvSpPr/>
          <p:nvPr/>
        </p:nvSpPr>
        <p:spPr>
          <a:xfrm>
            <a:off x="6278270" y="18288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61150" y="2011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自動で突き合わせ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61150" y="2788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契約単価・自社の出荷実績と照合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829446" y="2468880"/>
            <a:ext cx="228600" cy="45720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16" name="flow3"/>
          <p:cNvSpPr/>
          <p:nvPr/>
        </p:nvSpPr>
        <p:spPr>
          <a:xfrm>
            <a:off x="9143086" y="18288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5966" y="2011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「要確認」を一覧化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325966" y="2788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運送会社への確認材料に。CSVで記録</a:t>
            </a:r>
            <a:endParaRPr lang="en-US" sz="1200" dirty="0"/>
          </a:p>
        </p:txBody>
      </p:sp>
      <p:sp>
        <p:nvSpPr>
          <p:cNvPr id="19" name="pt0"/>
          <p:cNvSpPr/>
          <p:nvPr/>
        </p:nvSpPr>
        <p:spPr>
          <a:xfrm>
            <a:off x="548640" y="3977640"/>
            <a:ext cx="35661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977640"/>
            <a:ext cx="3566160" cy="1737360"/>
          </a:xfrm>
          <a:prstGeom prst="roundRect">
            <a:avLst>
              <a:gd name="adj" fmla="val 6316"/>
            </a:avLst>
          </a:prstGeom>
          <a:ln w="19050">
            <a:solidFill>
              <a:schemeClr val="accent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20624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4206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206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照合の見落としを防ぐ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1件ずつ目で追う作業を、食い違いだけ確認する作業に変えた</a:t>
            </a:r>
            <a:endParaRPr lang="en-US" sz="1400" dirty="0"/>
          </a:p>
        </p:txBody>
      </p:sp>
      <p:sp>
        <p:nvSpPr>
          <p:cNvPr id="25" name="pt1"/>
          <p:cNvSpPr/>
          <p:nvPr/>
        </p:nvSpPr>
        <p:spPr>
          <a:xfrm>
            <a:off x="4297680" y="3977640"/>
            <a:ext cx="35661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26" name="Shape 24"/>
          <p:cNvSpPr/>
          <p:nvPr/>
        </p:nvSpPr>
        <p:spPr>
          <a:xfrm>
            <a:off x="4297680" y="3977640"/>
            <a:ext cx="3566160" cy="1737360"/>
          </a:xfrm>
          <a:prstGeom prst="roundRect">
            <a:avLst>
              <a:gd name="adj" fmla="val 6316"/>
            </a:avLst>
          </a:prstGeom>
          <a:ln w="19050">
            <a:solidFill>
              <a:schemeClr val="accent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0" y="420624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0" y="4206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4206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情報を外に出さない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ブラウザの中だけで動き、請求金額などのデータを外部に送らない設計</a:t>
            </a:r>
            <a:endParaRPr lang="en-US" sz="1400" dirty="0"/>
          </a:p>
        </p:txBody>
      </p:sp>
      <p:sp>
        <p:nvSpPr>
          <p:cNvPr id="31" name="pt2"/>
          <p:cNvSpPr/>
          <p:nvPr/>
        </p:nvSpPr>
        <p:spPr>
          <a:xfrm>
            <a:off x="8046720" y="3977640"/>
            <a:ext cx="35661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32" name="Shape 30"/>
          <p:cNvSpPr/>
          <p:nvPr/>
        </p:nvSpPr>
        <p:spPr>
          <a:xfrm>
            <a:off x="8046720" y="3977640"/>
            <a:ext cx="3566160" cy="1737360"/>
          </a:xfrm>
          <a:prstGeom prst="roundRect">
            <a:avLst>
              <a:gd name="adj" fmla="val 6316"/>
            </a:avLst>
          </a:prstGeom>
          <a:ln w="19050">
            <a:solidFill>
              <a:schemeClr val="accent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21040" y="420624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321040" y="4206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869680" y="4206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毎月そのまま使える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対象月の自動選択など、毎月の運用手順まで整えて定着させた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まとめと今後の取り組み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「取引条件の改善」と「仕組みづくり」の両面で、会社の収益と業務効率に貢献しました。</a:t>
            </a:r>
            <a:endParaRPr lang="en-US" sz="1600" dirty="0"/>
          </a:p>
        </p:txBody>
      </p:sp>
      <p:sp>
        <p:nvSpPr>
          <p:cNvPr id="4" name="done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2526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この1年間の成果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取引条件の改善で年間 約1,394万円の効果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C級パレットを処分から買取へ（年696万円）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太平洋セメントへ月70t振替（年588万円）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販売単価の値上げ・処分費の値下げ（年110万円）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請求書照合の自動化、2つのビューワーを作成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生成AIを業務に取り入れ、開発を短期間で実現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8288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今後の取り組み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2468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423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効果額の見える化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28803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取り扱い量と単価から効果額を毎月集計し、実績として追えるようにする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37033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6576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ツールの定着と展開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41148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照合ツール・ビューワーを他の運送会社や他の業務にも広げる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49377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48920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さらなる条件改善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53492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処分費・販売単価の見直しと、新たな出し先の開拓を続ける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odjob Green">
  <a:themeElements>
    <a:clrScheme name="Goodjob Green">
      <a:dk1>
        <a:srgbClr val="1E2A26"/>
      </a:dk1>
      <a:lt1>
        <a:srgbClr val="FFFFFF"/>
      </a:lt1>
      <a:dk2>
        <a:srgbClr val="1F4D3A"/>
      </a:dk2>
      <a:lt2>
        <a:srgbClr val="EAF4EF"/>
      </a:lt2>
      <a:accent1>
        <a:srgbClr val="1F4D3A"/>
      </a:accent1>
      <a:accent2>
        <a:srgbClr val="2E8B6E"/>
      </a:accent2>
      <a:accent3>
        <a:srgbClr val="E07A2E"/>
      </a:accent3>
      <a:accent4>
        <a:srgbClr val="8FC1A9"/>
      </a:accent4>
      <a:accent5>
        <a:srgbClr val="5E6B66"/>
      </a:accent5>
      <a:accent6>
        <a:srgbClr val="C9DDD3"/>
      </a:accent6>
      <a:hlink>
        <a:srgbClr val="2E8B6E"/>
      </a:hlink>
      <a:folHlink>
        <a:srgbClr val="5E6B66"/>
      </a:folHlink>
    </a:clrScheme>
    <a:fontScheme name="Goodjob Green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業務貢献報告</dc:title>
  <dc:subject>PptxGenJS Presentation</dc:subject>
  <dc:creator/>
  <cp:lastModifiedBy/>
  <cp:revision>1</cp:revision>
  <dcterms:created xsi:type="dcterms:W3CDTF">2026-10-02T16:42:36Z</dcterms:created>
  <dcterms:modified xsi:type="dcterms:W3CDTF">2026-10-02T16:42:36Z</dcterms:modified>
</cp:coreProperties>
</file>