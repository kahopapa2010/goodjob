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概要" id="{e6918efe-4a33-4071-be90-f0e0e6103f3c}">
          <p14:sldIdLst>
            <p14:sldId id="256"/>
            <p14:sldId id="257"/>
            <p14:sldId id="258"/>
          </p14:sldIdLst>
        </p14:section>
        <p14:section name="取り組み内容" id="{6babdbcd-c315-8f85-b985-5e46b03c9e82}">
          <p14:sldIdLst>
            <p14:sldId id="259"/>
            <p14:sldId id="260"/>
            <p14:sldId id="261"/>
            <p14:sldId id="262"/>
            <p14:sldId id="263"/>
          </p14:sldIdLst>
        </p14:section>
        <p14:section name="成果と今後" id="{0f1e1600-170f-2c54-6090-44251c05c089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4D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4D3A"/>
                </a:solidFill>
                <a:latin typeface="+mn-lt"/>
              </a:rPr>
              <a:t>記録テーブルの月あたり件数（目安）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月あたりの件数（目安）</c:v>
                </c:pt>
              </c:strCache>
            </c:strRef>
          </c:tx>
          <c:spPr>
            <a:solidFill>
              <a:srgbClr val="2E8B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A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月初在庫</c:v>
                  </c:pt>
                  <c:pt idx="1">
                    <c:v>日報</c:v>
                  </c:pt>
                  <c:pt idx="2">
                    <c:v>予定外休止</c:v>
                  </c:pt>
                  <c:pt idx="3">
                    <c:v>直別操業</c:v>
                  </c:pt>
                  <c:pt idx="4">
                    <c:v>ベール処理</c:v>
                  </c:pt>
                  <c:pt idx="5">
                    <c:v>原料処理</c:v>
                  </c:pt>
                  <c:pt idx="6">
                    <c:v>特記事項</c:v>
                  </c:pt>
                  <c:pt idx="7">
                    <c:v>廃棄物発生</c:v>
                  </c:pt>
                  <c:pt idx="8">
                    <c:v>入荷明細</c:v>
                  </c:pt>
                  <c:pt idx="9">
                    <c:v>出荷明細</c:v>
                  </c:pt>
                  <c:pt idx="10">
                    <c:v>設備稼働</c:v>
                  </c:pt>
                  <c:pt idx="11">
                    <c:v>直送時間別</c:v>
                  </c:pt>
                  <c:pt idx="12">
                    <c:v>減容品フレコン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20</c:v>
                </c:pt>
                <c:pt idx="1">
                  <c:v>31</c:v>
                </c:pt>
                <c:pt idx="2">
                  <c:v>36</c:v>
                </c:pt>
                <c:pt idx="3">
                  <c:v>44</c:v>
                </c:pt>
                <c:pt idx="4">
                  <c:v>50</c:v>
                </c:pt>
                <c:pt idx="5">
                  <c:v>59</c:v>
                </c:pt>
                <c:pt idx="6">
                  <c:v>70</c:v>
                </c:pt>
                <c:pt idx="7">
                  <c:v>120</c:v>
                </c:pt>
                <c:pt idx="8">
                  <c:v>160</c:v>
                </c:pt>
                <c:pt idx="9">
                  <c:v>180</c:v>
                </c:pt>
                <c:pt idx="10">
                  <c:v>520</c:v>
                </c:pt>
                <c:pt idx="11">
                  <c:v>750</c:v>
                </c:pt>
                <c:pt idx="12">
                  <c:v>900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A2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A2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本日は、操業日報のデータ化（Excel日報からJUST.DBへの移行）について、私が取り組んできた内容と成果をご報告します。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8755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業務貢献報告｜操業日報のデータ化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業務貢献報告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操業日報（Excel）のJUST.DB移行に向けた計画・設計・ツール整備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仙台工場 プラスチック再生処理設備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報告日：2026年10月2日　　報告者：（氏名）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報告の要旨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Excel日報をデータベースへ移すための「計画」「設計」「変換・検証」「分析」を一通りそろえました。</a:t>
            </a:r>
            <a:endParaRPr lang="en-US" sz="1600" dirty="0"/>
          </a:p>
        </p:txBody>
      </p:sp>
      <p:sp>
        <p:nvSpPr>
          <p:cNvPr id="4" name="stat0"/>
          <p:cNvSpPr/>
          <p:nvPr/>
        </p:nvSpPr>
        <p:spPr>
          <a:xfrm>
            <a:off x="548640" y="1828800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1031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22</a:t>
            </a:r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テーブル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1546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JUST.DBのテーブル設計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マスタ9＋記録13</a:t>
            </a:r>
            <a:endParaRPr lang="en-US" sz="1300" dirty="0"/>
          </a:p>
        </p:txBody>
      </p:sp>
      <p:sp>
        <p:nvSpPr>
          <p:cNvPr id="7" name="stat1"/>
          <p:cNvSpPr/>
          <p:nvPr/>
        </p:nvSpPr>
        <p:spPr>
          <a:xfrm>
            <a:off x="3367735" y="1828800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96335" y="21031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9/9</a:t>
            </a:r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項目一致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596335" y="31546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旧日報の集計値と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変換データの突き合わせ</a:t>
            </a:r>
            <a:endParaRPr lang="en-US" sz="1300" dirty="0"/>
          </a:p>
        </p:txBody>
      </p:sp>
      <p:sp>
        <p:nvSpPr>
          <p:cNvPr id="10" name="stat2"/>
          <p:cNvSpPr/>
          <p:nvPr/>
        </p:nvSpPr>
        <p:spPr>
          <a:xfrm>
            <a:off x="6186830" y="1828800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15430" y="21031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約2</a:t>
            </a:r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分／月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415430" y="31546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1か月分の日報を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CSVへ変換する時間</a:t>
            </a:r>
            <a:endParaRPr lang="en-US" sz="1300" dirty="0"/>
          </a:p>
        </p:txBody>
      </p:sp>
      <p:sp>
        <p:nvSpPr>
          <p:cNvPr id="13" name="stat3"/>
          <p:cNvSpPr/>
          <p:nvPr/>
        </p:nvSpPr>
        <p:spPr>
          <a:xfrm>
            <a:off x="9005926" y="1828800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34526" y="21031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約1,000</a:t>
            </a:r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数式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234526" y="31546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CSVを貼り替えるだけで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更新できる分析Excel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56285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562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5262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移行計画　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0〜7の進め方を資料化し、関係者で共有できる形にした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12978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509320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仕組み化　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変換・検証・分析の手順を誰でも同じ結果になる形に整備した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569671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696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566013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情報管理　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実際の操業データを外部に出さない運用ルールを決めて守った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背景：Excel日報が抱えていた課題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月次の操業日報は「見た目（帳票）」を優先した作りで、集計や分析に使いにくい状態でした。</a:t>
            </a:r>
            <a:endParaRPr lang="en-US" sz="1600" dirty="0"/>
          </a:p>
        </p:txBody>
      </p:sp>
      <p:sp>
        <p:nvSpPr>
          <p:cNvPr id="4" name="issue0"/>
          <p:cNvSpPr/>
          <p:nvPr/>
        </p:nvSpPr>
        <p:spPr>
          <a:xfrm>
            <a:off x="548640" y="182880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!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031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帳票型で集計しにくい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69748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1日＝50行のブロックが31日分。日付が縦横に散らばり、横断的な集計は手作業</a:t>
            </a:r>
            <a:endParaRPr lang="en-US" sz="1400" dirty="0"/>
          </a:p>
        </p:txBody>
      </p:sp>
      <p:sp>
        <p:nvSpPr>
          <p:cNvPr id="9" name="issue1"/>
          <p:cNvSpPr/>
          <p:nvPr/>
        </p:nvSpPr>
        <p:spPr>
          <a:xfrm>
            <a:off x="6172200" y="182880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21031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!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1031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他ファイルへの依存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69748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前月在庫・原料・直送計量など他ファイル参照が多く、開き直すと値が消えるおそれ</a:t>
            </a:r>
            <a:endParaRPr lang="en-US" sz="1400" dirty="0"/>
          </a:p>
        </p:txBody>
      </p:sp>
      <p:sp>
        <p:nvSpPr>
          <p:cNvPr id="14" name="issue2"/>
          <p:cNvSpPr/>
          <p:nvPr/>
        </p:nvSpPr>
        <p:spPr>
          <a:xfrm>
            <a:off x="548640" y="397764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!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2519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入力のばらつき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84632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セル内の足し算（例：=12290+11010）や、#REF! になった出荷先の見出しが残る</a:t>
            </a:r>
            <a:endParaRPr lang="en-US" sz="1400" dirty="0"/>
          </a:p>
        </p:txBody>
      </p:sp>
      <p:sp>
        <p:nvSpPr>
          <p:cNvPr id="19" name="issue3"/>
          <p:cNvSpPr/>
          <p:nvPr/>
        </p:nvSpPr>
        <p:spPr>
          <a:xfrm>
            <a:off x="6172200" y="397764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2519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!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2519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分析に時間がかかる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484632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収率・処理ペース・予定外休止などの指標は、毎回手で拾って計算する必要がある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取り組み① 移行計画を立て、資料にまとめた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「小さく始めて確実に定着させる」方針で、STEP 0〜7・約3〜4か月の進め方を整理しました（12枚の計画資料）。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40155" y="2468880"/>
            <a:ext cx="9681210" cy="0"/>
          </a:xfrm>
          <a:prstGeom prst="line">
            <a:avLst/>
          </a:prstGeom>
          <a:noFill/>
          <a:ln w="38100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0115" y="21488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0115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926080"/>
            <a:ext cx="1291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目的・体制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03145" y="21488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303145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977390" y="2926080"/>
            <a:ext cx="1291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日報の棚卸し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86175" y="21488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86175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360420" y="2926080"/>
            <a:ext cx="1291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テーブル設計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69205" y="214884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69205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69205" y="2148840"/>
            <a:ext cx="640080" cy="640080"/>
          </a:xfrm>
          <a:prstGeom prst="ellipse">
            <a:avLst/>
          </a:prstGeom>
          <a:ln w="254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43450" y="2926080"/>
            <a:ext cx="1291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試作・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現場テスト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52235" y="214884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52235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52235" y="2148840"/>
            <a:ext cx="640080" cy="640080"/>
          </a:xfrm>
          <a:prstGeom prst="ellipse">
            <a:avLst/>
          </a:prstGeom>
          <a:ln w="254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26480" y="2926080"/>
            <a:ext cx="1291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並行運用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35265" y="214884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835265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835265" y="2148840"/>
            <a:ext cx="640080" cy="640080"/>
          </a:xfrm>
          <a:prstGeom prst="ellipse">
            <a:avLst/>
          </a:prstGeom>
          <a:ln w="254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09510" y="2926080"/>
            <a:ext cx="1291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本番切替・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データ移行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218295" y="214884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218295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218295" y="2148840"/>
            <a:ext cx="640080" cy="640080"/>
          </a:xfrm>
          <a:prstGeom prst="ellipse">
            <a:avLst/>
          </a:prstGeom>
          <a:ln w="2540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892540" y="2926080"/>
            <a:ext cx="1291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閲覧・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Excel連携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601325" y="214884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601325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0601325" y="2148840"/>
            <a:ext cx="640080" cy="640080"/>
          </a:xfrm>
          <a:prstGeom prst="ellipse">
            <a:avLst/>
          </a:prstGeom>
          <a:ln w="25400">
            <a:solidFill>
              <a:schemeClr val="accent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275570" y="2926080"/>
            <a:ext cx="1291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他ラインへ展開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3611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●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本報告の取り組みで着手・準備済み　</a:t>
            </a:r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○</a:t>
            </a:r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これから進める段階</a:t>
            </a:r>
            <a:endParaRPr lang="en-US" sz="1200" dirty="0"/>
          </a:p>
        </p:txBody>
      </p:sp>
      <p:sp>
        <p:nvSpPr>
          <p:cNvPr id="35" name="plan0"/>
          <p:cNvSpPr/>
          <p:nvPr/>
        </p:nvSpPr>
        <p:spPr>
          <a:xfrm>
            <a:off x="548640" y="411480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22960" y="4297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考え方をそろえた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822960" y="47548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「Excel＝見た目」「JUST.DB＝データ（1件＝1行）」と整理し、帳票の再現ではなくデータの形を優先する方針を明確にした</a:t>
            </a:r>
            <a:endParaRPr lang="en-US" sz="1300" dirty="0"/>
          </a:p>
        </p:txBody>
      </p:sp>
      <p:sp>
        <p:nvSpPr>
          <p:cNvPr id="38" name="plan1"/>
          <p:cNvSpPr/>
          <p:nvPr/>
        </p:nvSpPr>
        <p:spPr>
          <a:xfrm>
            <a:off x="4297680" y="411480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572000" y="4297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閲覧方法を決めた</a:t>
            </a:r>
            <a:endParaRPr lang="en-US" sz="17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0" y="47548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日々の確認はブラウザ（JUST.DB）、月次分析はCSVを使ったExcelと、用途で使い分ける形を提案した</a:t>
            </a:r>
            <a:endParaRPr lang="en-US" sz="1300" dirty="0"/>
          </a:p>
        </p:txBody>
      </p:sp>
      <p:sp>
        <p:nvSpPr>
          <p:cNvPr id="41" name="plan2"/>
          <p:cNvSpPr/>
          <p:nvPr/>
        </p:nvSpPr>
        <p:spPr>
          <a:xfrm>
            <a:off x="8046720" y="4114800"/>
            <a:ext cx="35661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321040" y="4297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失敗しにくい手順にした</a:t>
            </a:r>
            <a:endParaRPr lang="en-US" sz="1700" dirty="0"/>
          </a:p>
        </p:txBody>
      </p:sp>
      <p:sp>
        <p:nvSpPr>
          <p:cNvPr id="43" name="Text 41"/>
          <p:cNvSpPr txBox="1"/>
          <p:nvPr/>
        </p:nvSpPr>
        <p:spPr>
          <a:xfrm>
            <a:off x="8321040" y="47548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1ラインから始める・並行運用は終了日を先に決める・権限と修正ルールを決める、など5つのポイントを示した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取り組み② データベースの形を設計した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日報を「1行＝1日×1直×1件」の縦持ちに分解し、22テーブル（マスタ9・記録13）に整理しました。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66751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designcard"/>
          <p:cNvSpPr/>
          <p:nvPr/>
        </p:nvSpPr>
        <p:spPr>
          <a:xfrm>
            <a:off x="7498080" y="1737360"/>
            <a:ext cx="4114800" cy="443484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0" y="19202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約2,900</a:t>
            </a:r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件／月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2651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1か月の日報から生まれる記録の目安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315468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マスタで表記をそろえる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直・班・搬入元・品目・出荷先・設備・工程・休止要因・操業カレンダー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計算はシステムに任せる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実操業時間・予定外休止・原料処理重量・製品収率・処理ペースを、旧Excelの業務ルールどおり計算項目で再現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取り組み③ 変換ツールを作り、正しさを検証した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月次の日報Excelを読み取り、JUST.DBへ取り込めるCSVを自動で作るツールを作成しました。</a:t>
            </a:r>
            <a:endParaRPr lang="en-US" sz="1600" dirty="0"/>
          </a:p>
        </p:txBody>
      </p:sp>
      <p:sp>
        <p:nvSpPr>
          <p:cNvPr id="4" name="flow0"/>
          <p:cNvSpPr/>
          <p:nvPr/>
        </p:nvSpPr>
        <p:spPr>
          <a:xfrm>
            <a:off x="548640" y="1783080"/>
            <a:ext cx="237744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月次の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操業日報Excel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81528" y="2148840"/>
            <a:ext cx="228600" cy="365760"/>
          </a:xfrm>
          <a:prstGeom prst="chevron">
            <a:avLst/>
          </a:prstGeom>
          <a:solidFill>
            <a:schemeClr val="accent4"/>
          </a:solidFill>
          <a:ln/>
        </p:spPr>
      </p:sp>
      <p:sp>
        <p:nvSpPr>
          <p:cNvPr id="7" name="flow1"/>
          <p:cNvSpPr/>
          <p:nvPr/>
        </p:nvSpPr>
        <p:spPr>
          <a:xfrm>
            <a:off x="3447288" y="1783080"/>
            <a:ext cx="2377440" cy="109728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47288" y="17830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読み取り・変換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（自動）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80176" y="2148840"/>
            <a:ext cx="228600" cy="365760"/>
          </a:xfrm>
          <a:prstGeom prst="chevron">
            <a:avLst/>
          </a:prstGeom>
          <a:solidFill>
            <a:schemeClr val="accent4"/>
          </a:solidFill>
          <a:ln/>
        </p:spPr>
      </p:sp>
      <p:sp>
        <p:nvSpPr>
          <p:cNvPr id="10" name="flow2"/>
          <p:cNvSpPr/>
          <p:nvPr/>
        </p:nvSpPr>
        <p:spPr>
          <a:xfrm>
            <a:off x="6345936" y="1783080"/>
            <a:ext cx="2377440" cy="109728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45936" y="17830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旧日報と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突き合わせ検証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78824" y="2148840"/>
            <a:ext cx="228600" cy="365760"/>
          </a:xfrm>
          <a:prstGeom prst="chevron">
            <a:avLst/>
          </a:prstGeom>
          <a:solidFill>
            <a:schemeClr val="accent4"/>
          </a:solidFill>
          <a:ln/>
        </p:spPr>
      </p:sp>
      <p:sp>
        <p:nvSpPr>
          <p:cNvPr id="13" name="flow3"/>
          <p:cNvSpPr/>
          <p:nvPr/>
        </p:nvSpPr>
        <p:spPr>
          <a:xfrm>
            <a:off x="9244584" y="1783080"/>
            <a:ext cx="237744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44584" y="17830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移行用CSV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（22テーブル）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200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検証した9項目（すべて一致することを確認）</a:t>
            </a:r>
            <a:endParaRPr lang="en-US" sz="1600" dirty="0"/>
          </a:p>
        </p:txBody>
      </p:sp>
      <p:sp>
        <p:nvSpPr>
          <p:cNvPr id="16" name="chk0"/>
          <p:cNvSpPr/>
          <p:nvPr/>
        </p:nvSpPr>
        <p:spPr>
          <a:xfrm>
            <a:off x="548640" y="3703320"/>
            <a:ext cx="210312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83133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831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370332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入荷 重量</a:t>
            </a:r>
            <a:endParaRPr lang="en-US" sz="1400" dirty="0"/>
          </a:p>
        </p:txBody>
      </p:sp>
      <p:sp>
        <p:nvSpPr>
          <p:cNvPr id="20" name="chk1"/>
          <p:cNvSpPr/>
          <p:nvPr/>
        </p:nvSpPr>
        <p:spPr>
          <a:xfrm>
            <a:off x="2788920" y="3703320"/>
            <a:ext cx="210312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21" name="Shape 19"/>
          <p:cNvSpPr/>
          <p:nvPr/>
        </p:nvSpPr>
        <p:spPr>
          <a:xfrm>
            <a:off x="2926080" y="383133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926080" y="3831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383280" y="370332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入荷 個数</a:t>
            </a:r>
            <a:endParaRPr lang="en-US" sz="1400" dirty="0"/>
          </a:p>
        </p:txBody>
      </p:sp>
      <p:sp>
        <p:nvSpPr>
          <p:cNvPr id="24" name="chk2"/>
          <p:cNvSpPr/>
          <p:nvPr/>
        </p:nvSpPr>
        <p:spPr>
          <a:xfrm>
            <a:off x="5029200" y="3703320"/>
            <a:ext cx="210312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25" name="Shape 23"/>
          <p:cNvSpPr/>
          <p:nvPr/>
        </p:nvSpPr>
        <p:spPr>
          <a:xfrm>
            <a:off x="5166360" y="383133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166360" y="3831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623560" y="370332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処理 個数</a:t>
            </a:r>
            <a:endParaRPr lang="en-US" sz="1400" dirty="0"/>
          </a:p>
        </p:txBody>
      </p:sp>
      <p:sp>
        <p:nvSpPr>
          <p:cNvPr id="28" name="chk3"/>
          <p:cNvSpPr/>
          <p:nvPr/>
        </p:nvSpPr>
        <p:spPr>
          <a:xfrm>
            <a:off x="548640" y="4480560"/>
            <a:ext cx="210312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" y="460857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5800" y="4608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143000" y="448056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処理 重量</a:t>
            </a:r>
            <a:endParaRPr lang="en-US" sz="1400" dirty="0"/>
          </a:p>
        </p:txBody>
      </p:sp>
      <p:sp>
        <p:nvSpPr>
          <p:cNvPr id="32" name="chk4"/>
          <p:cNvSpPr/>
          <p:nvPr/>
        </p:nvSpPr>
        <p:spPr>
          <a:xfrm>
            <a:off x="2788920" y="4480560"/>
            <a:ext cx="210312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33" name="Shape 31"/>
          <p:cNvSpPr/>
          <p:nvPr/>
        </p:nvSpPr>
        <p:spPr>
          <a:xfrm>
            <a:off x="2926080" y="460857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2926080" y="4608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3383280" y="448056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減容品 重量</a:t>
            </a:r>
            <a:endParaRPr lang="en-US" sz="1400" dirty="0"/>
          </a:p>
        </p:txBody>
      </p:sp>
      <p:sp>
        <p:nvSpPr>
          <p:cNvPr id="36" name="chk5"/>
          <p:cNvSpPr/>
          <p:nvPr/>
        </p:nvSpPr>
        <p:spPr>
          <a:xfrm>
            <a:off x="5029200" y="4480560"/>
            <a:ext cx="210312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37" name="Shape 35"/>
          <p:cNvSpPr/>
          <p:nvPr/>
        </p:nvSpPr>
        <p:spPr>
          <a:xfrm>
            <a:off x="5166360" y="460857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166360" y="4608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623560" y="448056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減容品 袋数</a:t>
            </a:r>
            <a:endParaRPr lang="en-US" sz="1400" dirty="0"/>
          </a:p>
        </p:txBody>
      </p:sp>
      <p:sp>
        <p:nvSpPr>
          <p:cNvPr id="40" name="chk6"/>
          <p:cNvSpPr/>
          <p:nvPr/>
        </p:nvSpPr>
        <p:spPr>
          <a:xfrm>
            <a:off x="548640" y="5257800"/>
            <a:ext cx="210312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41" name="Shape 39"/>
          <p:cNvSpPr/>
          <p:nvPr/>
        </p:nvSpPr>
        <p:spPr>
          <a:xfrm>
            <a:off x="685800" y="538581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85800" y="5385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143000" y="525780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製品出荷</a:t>
            </a:r>
            <a:endParaRPr lang="en-US" sz="1400" dirty="0"/>
          </a:p>
        </p:txBody>
      </p:sp>
      <p:sp>
        <p:nvSpPr>
          <p:cNvPr id="44" name="chk7"/>
          <p:cNvSpPr/>
          <p:nvPr/>
        </p:nvSpPr>
        <p:spPr>
          <a:xfrm>
            <a:off x="2788920" y="5257800"/>
            <a:ext cx="210312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45" name="Shape 43"/>
          <p:cNvSpPr/>
          <p:nvPr/>
        </p:nvSpPr>
        <p:spPr>
          <a:xfrm>
            <a:off x="2926080" y="538581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2926080" y="5385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3383280" y="525780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廃棄物出荷</a:t>
            </a:r>
            <a:endParaRPr lang="en-US" sz="1400" dirty="0"/>
          </a:p>
        </p:txBody>
      </p:sp>
      <p:sp>
        <p:nvSpPr>
          <p:cNvPr id="48" name="chk8"/>
          <p:cNvSpPr/>
          <p:nvPr/>
        </p:nvSpPr>
        <p:spPr>
          <a:xfrm>
            <a:off x="5029200" y="5257800"/>
            <a:ext cx="210312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49" name="Shape 47"/>
          <p:cNvSpPr/>
          <p:nvPr/>
        </p:nvSpPr>
        <p:spPr>
          <a:xfrm>
            <a:off x="5166360" y="5385816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5166360" y="5385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623560" y="525780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実操業時間</a:t>
            </a:r>
            <a:endParaRPr lang="en-US" sz="1400" dirty="0"/>
          </a:p>
        </p:txBody>
      </p:sp>
      <p:sp>
        <p:nvSpPr>
          <p:cNvPr id="52" name="convnote"/>
          <p:cNvSpPr/>
          <p:nvPr/>
        </p:nvSpPr>
        <p:spPr>
          <a:xfrm>
            <a:off x="7498080" y="3200400"/>
            <a:ext cx="4114800" cy="2971800"/>
          </a:xfrm>
          <a:prstGeom prst="roundRect">
            <a:avLst>
              <a:gd name="adj" fmla="val 3692"/>
            </a:avLst>
          </a:prstGeom>
          <a:solidFill>
            <a:schemeClr val="bg2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7726680" y="3383280"/>
            <a:ext cx="3703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工夫した点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セル内の足し算は1台1行に分解して取り込む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他ファイル参照は保存済みの値を読み、元ファイルを壊さない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1つでも差があれば「NG」で止め、差を残したまま渡さない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取り組み④ 分析用Excelを用意した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JUST.DBから出力したCSVを貼り替えるだけで、ダッシュボードや集計表が更新される分析ブックを作りました。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収録シート</a:t>
            </a:r>
            <a:endParaRPr lang="en-US" sz="1600" dirty="0"/>
          </a:p>
        </p:txBody>
      </p:sp>
      <p:sp>
        <p:nvSpPr>
          <p:cNvPr id="5" name="sheet0"/>
          <p:cNvSpPr/>
          <p:nvPr/>
        </p:nvSpPr>
        <p:spPr>
          <a:xfrm>
            <a:off x="548640" y="2286000"/>
            <a:ext cx="4206240" cy="603504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ダッシュボード</a:t>
            </a:r>
            <a:endParaRPr lang="en-US" sz="1500" dirty="0"/>
          </a:p>
        </p:txBody>
      </p:sp>
      <p:sp>
        <p:nvSpPr>
          <p:cNvPr id="7" name="sheet1"/>
          <p:cNvSpPr/>
          <p:nvPr/>
        </p:nvSpPr>
        <p:spPr>
          <a:xfrm>
            <a:off x="548640" y="3035808"/>
            <a:ext cx="420624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035808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日別集計</a:t>
            </a:r>
            <a:endParaRPr lang="en-US" sz="1500" dirty="0"/>
          </a:p>
        </p:txBody>
      </p:sp>
      <p:sp>
        <p:nvSpPr>
          <p:cNvPr id="9" name="sheet2"/>
          <p:cNvSpPr/>
          <p:nvPr/>
        </p:nvSpPr>
        <p:spPr>
          <a:xfrm>
            <a:off x="548640" y="3785616"/>
            <a:ext cx="420624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785616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直別集計</a:t>
            </a:r>
            <a:endParaRPr lang="en-US" sz="1500" dirty="0"/>
          </a:p>
        </p:txBody>
      </p:sp>
      <p:sp>
        <p:nvSpPr>
          <p:cNvPr id="11" name="sheet3"/>
          <p:cNvSpPr/>
          <p:nvPr/>
        </p:nvSpPr>
        <p:spPr>
          <a:xfrm>
            <a:off x="548640" y="4535424"/>
            <a:ext cx="420624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535424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休止・トラブル</a:t>
            </a:r>
            <a:endParaRPr lang="en-US" sz="1500" dirty="0"/>
          </a:p>
        </p:txBody>
      </p:sp>
      <p:sp>
        <p:nvSpPr>
          <p:cNvPr id="13" name="sheet4"/>
          <p:cNvSpPr/>
          <p:nvPr/>
        </p:nvSpPr>
        <p:spPr>
          <a:xfrm>
            <a:off x="548640" y="5285232"/>
            <a:ext cx="420624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5285232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出荷集計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1783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ダッシュボードで見られる主な指標</a:t>
            </a:r>
            <a:endParaRPr lang="en-US" sz="1600" dirty="0"/>
          </a:p>
        </p:txBody>
      </p:sp>
      <p:sp>
        <p:nvSpPr>
          <p:cNvPr id="16" name="kpi0"/>
          <p:cNvSpPr/>
          <p:nvPr/>
        </p:nvSpPr>
        <p:spPr>
          <a:xfrm>
            <a:off x="5212080" y="2286000"/>
            <a:ext cx="20116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94960" y="24505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原料処理量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単位：t</a:t>
            </a:r>
            <a:endParaRPr lang="en-US" sz="1200" dirty="0"/>
          </a:p>
        </p:txBody>
      </p:sp>
      <p:sp>
        <p:nvSpPr>
          <p:cNvPr id="19" name="kpi1"/>
          <p:cNvSpPr/>
          <p:nvPr/>
        </p:nvSpPr>
        <p:spPr>
          <a:xfrm>
            <a:off x="7379208" y="2286000"/>
            <a:ext cx="20116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562088" y="24505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製品生産量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562088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単位：t</a:t>
            </a:r>
            <a:endParaRPr lang="en-US" sz="1200" dirty="0"/>
          </a:p>
        </p:txBody>
      </p:sp>
      <p:sp>
        <p:nvSpPr>
          <p:cNvPr id="22" name="kpi2"/>
          <p:cNvSpPr/>
          <p:nvPr/>
        </p:nvSpPr>
        <p:spPr>
          <a:xfrm>
            <a:off x="9546336" y="2286000"/>
            <a:ext cx="20116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729216" y="24505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製品収率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729216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単位：%</a:t>
            </a:r>
            <a:endParaRPr lang="en-US" sz="1200" dirty="0"/>
          </a:p>
        </p:txBody>
      </p:sp>
      <p:sp>
        <p:nvSpPr>
          <p:cNvPr id="25" name="kpi3"/>
          <p:cNvSpPr/>
          <p:nvPr/>
        </p:nvSpPr>
        <p:spPr>
          <a:xfrm>
            <a:off x="5212080" y="3657600"/>
            <a:ext cx="20116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394960" y="38221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処理ペース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394960" y="4297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単位：kg/時</a:t>
            </a:r>
            <a:endParaRPr lang="en-US" sz="1200" dirty="0"/>
          </a:p>
        </p:txBody>
      </p:sp>
      <p:sp>
        <p:nvSpPr>
          <p:cNvPr id="28" name="kpi4"/>
          <p:cNvSpPr/>
          <p:nvPr/>
        </p:nvSpPr>
        <p:spPr>
          <a:xfrm>
            <a:off x="7379208" y="3657600"/>
            <a:ext cx="20116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562088" y="38221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予定外休止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562088" y="4297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単位：分</a:t>
            </a:r>
            <a:endParaRPr lang="en-US" sz="1200" dirty="0"/>
          </a:p>
        </p:txBody>
      </p:sp>
      <p:sp>
        <p:nvSpPr>
          <p:cNvPr id="31" name="kpi5"/>
          <p:cNvSpPr/>
          <p:nvPr/>
        </p:nvSpPr>
        <p:spPr>
          <a:xfrm>
            <a:off x="9546336" y="3657600"/>
            <a:ext cx="20116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729216" y="38221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トラブル件数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9729216" y="4297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単位：件</a:t>
            </a:r>
            <a:endParaRPr lang="en-US" sz="1200" dirty="0"/>
          </a:p>
        </p:txBody>
      </p:sp>
      <p:sp>
        <p:nvSpPr>
          <p:cNvPr id="34" name="xlnote"/>
          <p:cNvSpPr/>
          <p:nvPr/>
        </p:nvSpPr>
        <p:spPr>
          <a:xfrm>
            <a:off x="5212080" y="5120640"/>
            <a:ext cx="6364224" cy="859536"/>
          </a:xfrm>
          <a:prstGeom prst="roundRect">
            <a:avLst>
              <a:gd name="adj" fmla="val 12766"/>
            </a:avLst>
          </a:prstGeom>
          <a:solidFill>
            <a:schemeClr val="bg1"/>
          </a:solidFill>
          <a:ln/>
        </p:spPr>
      </p:sp>
      <p:sp>
        <p:nvSpPr>
          <p:cNvPr id="35" name="Shape 33"/>
          <p:cNvSpPr/>
          <p:nvPr/>
        </p:nvSpPr>
        <p:spPr>
          <a:xfrm>
            <a:off x="5212080" y="5120640"/>
            <a:ext cx="6364224" cy="859536"/>
          </a:xfrm>
          <a:prstGeom prst="roundRect">
            <a:avLst>
              <a:gd name="adj" fmla="val 12766"/>
            </a:avLst>
          </a:prstGeom>
          <a:ln w="19050">
            <a:solidFill>
              <a:schemeClr val="accent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40680" y="5120640"/>
            <a:ext cx="5943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複数月のCSVをまとめて読み込めるため、月をまたいだ推移の比較にもそのまま使えます。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取り組み⑤ 手順の仕組み化と情報管理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一度きりの作業で終わらせず、翌月以降も誰でも同じ品質で再現できるようにしました。</a:t>
            </a:r>
            <a:endParaRPr lang="en-US" sz="1600" dirty="0"/>
          </a:p>
        </p:txBody>
      </p:sp>
      <p:sp>
        <p:nvSpPr>
          <p:cNvPr id="4" name="sys0"/>
          <p:cNvSpPr/>
          <p:nvPr/>
        </p:nvSpPr>
        <p:spPr>
          <a:xfrm>
            <a:off x="548640" y="1828800"/>
            <a:ext cx="544068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1031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手順を標準化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69748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変換・検証・分析Excel作成・報告までの手順書を整備。日報ファイルを渡すだけで同じ流れで処理できる</a:t>
            </a:r>
            <a:endParaRPr lang="en-US" sz="1400" dirty="0"/>
          </a:p>
        </p:txBody>
      </p:sp>
      <p:sp>
        <p:nvSpPr>
          <p:cNvPr id="9" name="sys1"/>
          <p:cNvSpPr/>
          <p:nvPr/>
        </p:nvSpPr>
        <p:spPr>
          <a:xfrm>
            <a:off x="6172200" y="1828800"/>
            <a:ext cx="544068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21031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21031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コマンド1つで実行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69748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3つの処理（変換・マスタ作成と検証・分析Excel作成）をまとめて実行。複数月もまとめて変換できる</a:t>
            </a:r>
            <a:endParaRPr lang="en-US" sz="1400" dirty="0"/>
          </a:p>
        </p:txBody>
      </p:sp>
      <p:sp>
        <p:nvSpPr>
          <p:cNvPr id="14" name="sys2"/>
          <p:cNvSpPr/>
          <p:nvPr/>
        </p:nvSpPr>
        <p:spPr>
          <a:xfrm>
            <a:off x="548640" y="4023360"/>
            <a:ext cx="544068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2976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レイアウト変更に備える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89204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旧Excelのセル配置と業務ルールを文書化。様式が変わった月も、どこを直せばよいかすぐ分かる</a:t>
            </a:r>
            <a:endParaRPr lang="en-US" sz="1400" dirty="0"/>
          </a:p>
        </p:txBody>
      </p:sp>
      <p:sp>
        <p:nvSpPr>
          <p:cNvPr id="19" name="sys3"/>
          <p:cNvSpPr/>
          <p:nvPr/>
        </p:nvSpPr>
        <p:spPr>
          <a:xfrm>
            <a:off x="6172200" y="4023360"/>
            <a:ext cx="5440680" cy="1965960"/>
          </a:xfrm>
          <a:prstGeom prst="roundRect">
            <a:avLst>
              <a:gd name="adj" fmla="val 5581"/>
            </a:avLst>
          </a:prstGeom>
          <a:solidFill>
            <a:schemeClr val="tx2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2976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42976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実データを外に出さない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489204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重量・出荷先・トラブルなど実際の操業データは保管場所を分け、共有用の資料・ツールには含めない運用にした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期待される効果：作業はこう変わる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移行が完了すると、日報の「入力」「集計」「共有」の手間が大きく減る見込みです。</a:t>
            </a:r>
            <a:endParaRPr lang="en-US" sz="1600" dirty="0"/>
          </a:p>
        </p:txBody>
      </p:sp>
      <p:sp>
        <p:nvSpPr>
          <p:cNvPr id="4" name="hb"/>
          <p:cNvSpPr/>
          <p:nvPr/>
        </p:nvSpPr>
        <p:spPr>
          <a:xfrm>
            <a:off x="2103120" y="1828800"/>
            <a:ext cx="4526280" cy="502920"/>
          </a:xfrm>
          <a:prstGeom prst="roundRect">
            <a:avLst>
              <a:gd name="adj" fmla="val 21818"/>
            </a:avLst>
          </a:prstGeom>
          <a:solidFill>
            <a:schemeClr val="accent6"/>
          </a:solidFill>
          <a:ln/>
        </p:spPr>
      </p:sp>
      <p:sp>
        <p:nvSpPr>
          <p:cNvPr id="5" name="ha"/>
          <p:cNvSpPr/>
          <p:nvPr/>
        </p:nvSpPr>
        <p:spPr>
          <a:xfrm>
            <a:off x="7086600" y="1828800"/>
            <a:ext cx="4526280" cy="502920"/>
          </a:xfrm>
          <a:prstGeom prst="roundRect">
            <a:avLst>
              <a:gd name="adj" fmla="val 21818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103120" y="18288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これまで（Excel日報）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086600" y="18288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移行後（JUST.DB）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1460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集計</a:t>
            </a:r>
            <a:endParaRPr lang="en-US" sz="1600" dirty="0"/>
          </a:p>
        </p:txBody>
      </p:sp>
      <p:sp>
        <p:nvSpPr>
          <p:cNvPr id="9" name="b0"/>
          <p:cNvSpPr/>
          <p:nvPr/>
        </p:nvSpPr>
        <p:spPr>
          <a:xfrm>
            <a:off x="2103120" y="2514600"/>
            <a:ext cx="452628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31720" y="2514600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日報から数字を手で拾って計算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48272" y="2651760"/>
            <a:ext cx="219456" cy="329184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12" name="a0"/>
          <p:cNvSpPr/>
          <p:nvPr/>
        </p:nvSpPr>
        <p:spPr>
          <a:xfrm>
            <a:off x="7086600" y="2514600"/>
            <a:ext cx="452628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0" y="2514600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入力すると自動で集計・グラフ化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264408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指標</a:t>
            </a:r>
            <a:endParaRPr lang="en-US" sz="1600" dirty="0"/>
          </a:p>
        </p:txBody>
      </p:sp>
      <p:sp>
        <p:nvSpPr>
          <p:cNvPr id="15" name="b1"/>
          <p:cNvSpPr/>
          <p:nvPr/>
        </p:nvSpPr>
        <p:spPr>
          <a:xfrm>
            <a:off x="2103120" y="3264408"/>
            <a:ext cx="452628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331720" y="3264408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収率・休止時間は都度手計算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48272" y="3401568"/>
            <a:ext cx="219456" cy="329184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18" name="a1"/>
          <p:cNvSpPr/>
          <p:nvPr/>
        </p:nvSpPr>
        <p:spPr>
          <a:xfrm>
            <a:off x="7086600" y="3264408"/>
            <a:ext cx="452628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0" y="3264408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計算項目で常に同じルールで算出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014216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表記</a:t>
            </a:r>
            <a:endParaRPr lang="en-US" sz="1600" dirty="0"/>
          </a:p>
        </p:txBody>
      </p:sp>
      <p:sp>
        <p:nvSpPr>
          <p:cNvPr id="21" name="b2"/>
          <p:cNvSpPr/>
          <p:nvPr/>
        </p:nvSpPr>
        <p:spPr>
          <a:xfrm>
            <a:off x="2103120" y="4014216"/>
            <a:ext cx="452628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331720" y="4014216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品目・出荷先の表記ゆれ、#REF!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748272" y="4151376"/>
            <a:ext cx="219456" cy="329184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24" name="a2"/>
          <p:cNvSpPr/>
          <p:nvPr/>
        </p:nvSpPr>
        <p:spPr>
          <a:xfrm>
            <a:off x="7086600" y="4014216"/>
            <a:ext cx="452628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0" y="4014216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マスタから選ぶので表記がそろう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764024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共有</a:t>
            </a:r>
            <a:endParaRPr lang="en-US" sz="1600" dirty="0"/>
          </a:p>
        </p:txBody>
      </p:sp>
      <p:sp>
        <p:nvSpPr>
          <p:cNvPr id="27" name="b3"/>
          <p:cNvSpPr/>
          <p:nvPr/>
        </p:nvSpPr>
        <p:spPr>
          <a:xfrm>
            <a:off x="2103120" y="4764024"/>
            <a:ext cx="452628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331720" y="4764024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ファイルを開かないと分からない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748272" y="4901184"/>
            <a:ext cx="219456" cy="329184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30" name="a3"/>
          <p:cNvSpPr/>
          <p:nvPr/>
        </p:nvSpPr>
        <p:spPr>
          <a:xfrm>
            <a:off x="7086600" y="4764024"/>
            <a:ext cx="452628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315200" y="4764024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ブラウザでいつでも最新を確認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51383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分析</a:t>
            </a:r>
            <a:endParaRPr lang="en-US" sz="1600" dirty="0"/>
          </a:p>
        </p:txBody>
      </p:sp>
      <p:sp>
        <p:nvSpPr>
          <p:cNvPr id="33" name="b4"/>
          <p:cNvSpPr/>
          <p:nvPr/>
        </p:nvSpPr>
        <p:spPr>
          <a:xfrm>
            <a:off x="2103120" y="5513832"/>
            <a:ext cx="452628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2331720" y="5513832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毎回Excelを作り直す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748272" y="5650992"/>
            <a:ext cx="219456" cy="329184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36" name="a4"/>
          <p:cNvSpPr/>
          <p:nvPr/>
        </p:nvSpPr>
        <p:spPr>
          <a:xfrm>
            <a:off x="7086600" y="5513832"/>
            <a:ext cx="452628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315200" y="5513832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CSVを貼り替えるだけで更新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今後の予定とお願い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準備段階（STEP 0〜2）の土台はそろいました。次は現場での試行に進みたいと考えています。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今後の予定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45059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3774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他の月の日報も変換・検証し、過去データ移行の範囲を確定する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40680" y="2377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36499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2918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出荷先マスタの正式名称を登録し直す（#REF!の見出し対応）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32918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27939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2062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JUST.DBで入力フォームを試作し、現場で試してもらう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40680" y="42062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19379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120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期間を決めてExcelとの並行運用を行い、毎週集計を突き合わせる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51206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4</a:t>
            </a:r>
            <a:endParaRPr lang="en-US" sz="1100" dirty="0"/>
          </a:p>
        </p:txBody>
      </p:sp>
      <p:sp>
        <p:nvSpPr>
          <p:cNvPr id="21" name="ask"/>
          <p:cNvSpPr/>
          <p:nvPr/>
        </p:nvSpPr>
        <p:spPr>
          <a:xfrm>
            <a:off x="6675120" y="1828800"/>
            <a:ext cx="4937760" cy="4343400"/>
          </a:xfrm>
          <a:prstGeom prst="roundRect">
            <a:avLst>
              <a:gd name="adj" fmla="val 2526"/>
            </a:avLst>
          </a:prstGeom>
          <a:solidFill>
            <a:schemeClr val="tx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95160" y="20574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ご相談したいこと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2743200"/>
            <a:ext cx="4389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推進体制のご承認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推進責任者・現場キーパーソン・閲覧者代表の選任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試行ラインと期間のご判断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まず1ラインで始め、並行運用の終了日を先に決める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管理職として見たい指標のご指示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ダッシュボードの項目に反映します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odjob Green">
  <a:themeElements>
    <a:clrScheme name="Goodjob Green">
      <a:dk1>
        <a:srgbClr val="1E2A26"/>
      </a:dk1>
      <a:lt1>
        <a:srgbClr val="FFFFFF"/>
      </a:lt1>
      <a:dk2>
        <a:srgbClr val="1F4D3A"/>
      </a:dk2>
      <a:lt2>
        <a:srgbClr val="EAF4EF"/>
      </a:lt2>
      <a:accent1>
        <a:srgbClr val="1F4D3A"/>
      </a:accent1>
      <a:accent2>
        <a:srgbClr val="2E8B6E"/>
      </a:accent2>
      <a:accent3>
        <a:srgbClr val="E07A2E"/>
      </a:accent3>
      <a:accent4>
        <a:srgbClr val="8FC1A9"/>
      </a:accent4>
      <a:accent5>
        <a:srgbClr val="5E6B66"/>
      </a:accent5>
      <a:accent6>
        <a:srgbClr val="C9DDD3"/>
      </a:accent6>
      <a:hlink>
        <a:srgbClr val="2E8B6E"/>
      </a:hlink>
      <a:folHlink>
        <a:srgbClr val="5E6B66"/>
      </a:folHlink>
    </a:clrScheme>
    <a:fontScheme name="Goodjob Green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業務貢献報告</dc:title>
  <dc:subject>PptxGenJS Presentation</dc:subject>
  <dc:creator/>
  <cp:lastModifiedBy/>
  <cp:revision>1</cp:revision>
  <dcterms:created xsi:type="dcterms:W3CDTF">2026-10-02T15:30:33Z</dcterms:created>
  <dcterms:modified xsi:type="dcterms:W3CDTF">2026-10-02T15:30:33Z</dcterms:modified>
</cp:coreProperties>
</file>